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56" r:id="rId10"/>
    <p:sldId id="266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C6510-6C02-48AB-B920-5F5BC1D2052A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495F1-5A4F-4039-B2CA-7598CB4276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13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495F1-5A4F-4039-B2CA-7598CB42765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434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DC378-B356-8D34-0BE2-2C6C9E232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0626B3-6B9E-44A0-4270-6FA41C47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CFF14-EE2D-0197-CE5D-EC273900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B3D23-1380-40CF-689E-DE83B2DA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696AD-1A77-D377-4211-25E44E7F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02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83787-F039-F3E7-E7B8-DEEF4322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1EE8-E5C8-954E-BA4C-E5DF3896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F8774-66CB-57AF-5948-B6E29867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0526B4-5FA9-E4D3-AF64-1817A203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6C3678-1863-068B-D4C2-0EB4CFEC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08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2E606-0838-F8D5-75B3-465EB340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0DEB4-1B75-4051-4C6E-D3B86B8AA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AFEAF-0946-76AC-4D4A-C3F888EE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3FE5B1-84E9-18CE-E0B6-CAE46D4F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F35AE-316E-E5F1-EB68-90739D42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60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43453-A3B6-DBBA-C8D9-BB446D06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8F011-29AF-67F7-2B91-A6C7C59BA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CCBB00-921E-9FFD-5CF6-16D3949B8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955D5-4388-009A-8C04-67AD31986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ADF1BC-03E4-1F9F-F6DC-16E761B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D5E948-27D0-FFD2-5F45-5990447C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2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5BAAE-98DA-C4C5-F2A3-95CA5FDA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F971B-C2AF-7DE6-19EC-E6AFB7880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0B6508-F7AC-A307-6977-155CE98AE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283BA5-F571-0CDD-3585-FFC9ACADC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6D7C48-0D0B-B3D3-B64F-FB2E58EAD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18CFB8-B11D-F57C-18DF-24837728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B86E32-5561-9055-5CF5-A6606632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A81249-CD9B-7EB5-34C4-E447D056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7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2FF86-56A4-D999-81AB-10ED37D8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E7EF4F-3AF6-5008-1485-CFB8DD26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346364-C2D2-8F18-D775-6E6FE41E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0639FA-08DB-3848-2505-9AFA8854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C076D9-34D4-D5AD-575E-4ABEC2A1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2B6989-0640-388A-29AD-6B9ABDC3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3A542-7A00-9E82-E2B1-7574BD41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51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E8B8F-E5C8-B611-AA98-73AE7F3E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FAB63-C291-69B4-F97D-27BECC93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EE16BE-6881-2E26-8514-6FBF11D8B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1B2EEE-5291-3B9A-221C-5ED184A2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6D771E-B085-B6B5-5612-AA32CEC6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AB3E30-A150-8CA6-D7C6-BD2E4638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7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D411A-4300-9038-D479-2CD509C5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65C27E-4794-EA53-01E2-09BC40E97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8EFDE-BDFD-B349-ED00-4251CBCDE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7A0843-4C8F-419E-1CD6-1E89B9A5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ADAF2-F6EA-6341-E69B-4B3B367B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3FACE3-A586-ADD7-BA18-327E7766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20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2FEC2-F2D4-5AD5-1BEB-8D7FE109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F9D7C-4247-AE0E-4EB6-3B60EEDC4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D7FB5D-9CD8-BE8E-999F-8058C171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505D9F-C675-8931-C9A6-88C6CDA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647BF-7805-80FC-3480-A0F8D0D9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11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DE06B2-EA21-7846-4550-DD544A06E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B5DF5-E0C3-155C-7422-1668DFD5F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2F6B5-DD67-9BA8-897D-99AF19A6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3BDFF-3814-9615-20EC-CCB21AF6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C7004-AD15-43EE-32BF-2F513DBF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7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1949E6-3C0C-1B23-C7C0-A480B964B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ECCB29-E831-A351-0F98-7237419E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1CAF11-8C50-7759-C620-15DAF8DF6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B55A4-D695-4ADF-8E73-515BAA1FD816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62CD10-D57F-8792-8ACF-793C8C116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7DE3B1-8B4D-AA05-271F-0D47B6B5B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9A541-63CC-4B1E-8E72-3F568CAD1F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69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3405CD-44CD-3D0F-E590-BA0A607053D6}"/>
              </a:ext>
            </a:extLst>
          </p:cNvPr>
          <p:cNvSpPr txBox="1"/>
          <p:nvPr/>
        </p:nvSpPr>
        <p:spPr>
          <a:xfrm>
            <a:off x="112295" y="335845"/>
            <a:ext cx="1207970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관리자 페이지 </a:t>
            </a:r>
            <a:r>
              <a:rPr lang="en-US" altLang="ko-KR" dirty="0"/>
              <a:t>“</a:t>
            </a:r>
            <a:r>
              <a:rPr lang="ko-KR" altLang="en-US" dirty="0"/>
              <a:t>약관관리</a:t>
            </a:r>
            <a:r>
              <a:rPr lang="en-US" altLang="ko-KR" dirty="0"/>
              <a:t>”</a:t>
            </a:r>
            <a:r>
              <a:rPr lang="ko-KR" altLang="en-US" dirty="0"/>
              <a:t> 의 카테고리 선택에 따른 분류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1.</a:t>
            </a:r>
            <a:r>
              <a:rPr lang="ko-KR" altLang="en-US" dirty="0"/>
              <a:t>기존의 지민님이 찾아봐 주신 약관 내용과 페이지들을 베이스로 정리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>
                <a:highlight>
                  <a:srgbClr val="FFFF00"/>
                </a:highlight>
              </a:rPr>
              <a:t>노란색 영역</a:t>
            </a:r>
            <a:r>
              <a:rPr lang="ko-KR" altLang="en-US" dirty="0"/>
              <a:t>은 수정 제안하는 부분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Txt</a:t>
            </a:r>
            <a:r>
              <a:rPr lang="ko-KR" altLang="en-US" dirty="0"/>
              <a:t>파일은 해당하는 영역의 시중 은행 약관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예를 들어 은행이름을 </a:t>
            </a:r>
            <a:r>
              <a:rPr lang="en-US" altLang="ko-KR" dirty="0"/>
              <a:t>FLOBANK</a:t>
            </a:r>
            <a:r>
              <a:rPr lang="ko-KR" altLang="en-US" dirty="0"/>
              <a:t>로 수정하는 등 우리에게 맞춘 세부적인 수정 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 err="1"/>
              <a:t>피피티</a:t>
            </a:r>
            <a:r>
              <a:rPr lang="ko-KR" altLang="en-US" dirty="0"/>
              <a:t> 페이지 번호 </a:t>
            </a:r>
            <a:r>
              <a:rPr lang="en-US" altLang="ko-KR" dirty="0"/>
              <a:t>8</a:t>
            </a:r>
            <a:r>
              <a:rPr lang="ko-KR" altLang="en-US" dirty="0"/>
              <a:t>번 </a:t>
            </a:r>
            <a:r>
              <a:rPr lang="en-US" altLang="ko-KR" dirty="0"/>
              <a:t>-&gt; </a:t>
            </a:r>
            <a:r>
              <a:rPr lang="ko-KR" altLang="en-US" dirty="0"/>
              <a:t>약관 내용을 우리에게 맞추어 종합하여 작성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5. </a:t>
            </a:r>
            <a:r>
              <a:rPr lang="ko-KR" altLang="en-US" dirty="0">
                <a:highlight>
                  <a:srgbClr val="FFFF00"/>
                </a:highlight>
              </a:rPr>
              <a:t>관리자 페이지 </a:t>
            </a:r>
            <a:r>
              <a:rPr lang="en-US" altLang="ko-KR" dirty="0">
                <a:highlight>
                  <a:srgbClr val="FFFF00"/>
                </a:highlight>
              </a:rPr>
              <a:t>“</a:t>
            </a:r>
            <a:r>
              <a:rPr lang="ko-KR" altLang="en-US" dirty="0">
                <a:highlight>
                  <a:srgbClr val="FFFF00"/>
                </a:highlight>
              </a:rPr>
              <a:t>약관관리</a:t>
            </a:r>
            <a:r>
              <a:rPr lang="en-US" altLang="ko-KR" dirty="0">
                <a:highlight>
                  <a:srgbClr val="FFFF00"/>
                </a:highlight>
              </a:rPr>
              <a:t>”</a:t>
            </a:r>
            <a:r>
              <a:rPr lang="ko-KR" altLang="en-US" dirty="0">
                <a:highlight>
                  <a:srgbClr val="FFFF00"/>
                </a:highlight>
              </a:rPr>
              <a:t> 의 카테고리 수정 제안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 err="1">
                <a:highlight>
                  <a:srgbClr val="FFFF00"/>
                </a:highlight>
              </a:rPr>
              <a:t>피피티</a:t>
            </a:r>
            <a:r>
              <a:rPr lang="ko-KR" altLang="en-US" dirty="0">
                <a:highlight>
                  <a:srgbClr val="FFFF00"/>
                </a:highlight>
              </a:rPr>
              <a:t> 페이지 번호 </a:t>
            </a:r>
            <a:r>
              <a:rPr lang="en-US" altLang="ko-KR" dirty="0">
                <a:highlight>
                  <a:srgbClr val="FFFF00"/>
                </a:highlight>
              </a:rPr>
              <a:t>5,6,7,8</a:t>
            </a:r>
            <a:r>
              <a:rPr lang="ko-KR" altLang="en-US" dirty="0">
                <a:highlight>
                  <a:srgbClr val="FFFF00"/>
                </a:highlight>
              </a:rPr>
              <a:t>번 해당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/>
              <a:t> </a:t>
            </a:r>
            <a:r>
              <a:rPr lang="ko-KR" altLang="en-US" dirty="0"/>
              <a:t>기존 </a:t>
            </a:r>
            <a:r>
              <a:rPr lang="en-US" altLang="ko-KR" dirty="0"/>
              <a:t>:       </a:t>
            </a:r>
            <a:r>
              <a:rPr lang="ko-KR" altLang="en-US" dirty="0"/>
              <a:t>회원가입</a:t>
            </a:r>
            <a:r>
              <a:rPr lang="en-US" altLang="ko-KR" dirty="0"/>
              <a:t>/</a:t>
            </a:r>
            <a:r>
              <a:rPr lang="ko-KR" altLang="en-US" dirty="0"/>
              <a:t>원화송금</a:t>
            </a:r>
            <a:r>
              <a:rPr lang="en-US" altLang="ko-KR" dirty="0"/>
              <a:t>/</a:t>
            </a:r>
            <a:r>
              <a:rPr lang="ko-KR" altLang="en-US" dirty="0"/>
              <a:t>외환송금</a:t>
            </a:r>
            <a:r>
              <a:rPr lang="en-US" altLang="ko-KR" dirty="0"/>
              <a:t>/</a:t>
            </a:r>
            <a:r>
              <a:rPr lang="ko-KR" altLang="en-US" dirty="0"/>
              <a:t> 외환예금</a:t>
            </a:r>
            <a:r>
              <a:rPr lang="en-US" altLang="ko-KR" dirty="0"/>
              <a:t>/</a:t>
            </a:r>
            <a:r>
              <a:rPr lang="ko-KR" altLang="en-US" dirty="0"/>
              <a:t>환전하기</a:t>
            </a:r>
            <a:r>
              <a:rPr lang="en-US" altLang="ko-KR" dirty="0"/>
              <a:t>(</a:t>
            </a:r>
            <a:r>
              <a:rPr lang="ko-KR" altLang="en-US" dirty="0"/>
              <a:t>추가예정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수정제안 </a:t>
            </a:r>
            <a:r>
              <a:rPr lang="en-US" altLang="ko-KR" dirty="0"/>
              <a:t>: </a:t>
            </a:r>
            <a:r>
              <a:rPr lang="ko-KR" altLang="en-US" dirty="0"/>
              <a:t>회원가입</a:t>
            </a:r>
            <a:r>
              <a:rPr lang="en-US" altLang="ko-KR" dirty="0"/>
              <a:t>/</a:t>
            </a:r>
            <a:r>
              <a:rPr lang="ko-KR" altLang="en-US" dirty="0"/>
              <a:t>원화송금</a:t>
            </a:r>
            <a:r>
              <a:rPr lang="en-US" altLang="ko-KR" dirty="0"/>
              <a:t>/</a:t>
            </a:r>
            <a:r>
              <a:rPr lang="ko-KR" altLang="en-US" dirty="0"/>
              <a:t>외환송금</a:t>
            </a:r>
            <a:r>
              <a:rPr lang="en-US" altLang="ko-KR" dirty="0"/>
              <a:t>/</a:t>
            </a:r>
            <a:r>
              <a:rPr lang="ko-KR" altLang="en-US" dirty="0"/>
              <a:t> 외환예금</a:t>
            </a:r>
            <a:r>
              <a:rPr lang="en-US" altLang="ko-KR" dirty="0"/>
              <a:t>/</a:t>
            </a:r>
            <a:r>
              <a:rPr lang="ko-KR" altLang="en-US" dirty="0"/>
              <a:t>환전하기</a:t>
            </a:r>
            <a:r>
              <a:rPr lang="en-US" altLang="ko-KR" dirty="0"/>
              <a:t>(</a:t>
            </a:r>
            <a:r>
              <a:rPr lang="ko-KR" altLang="en-US" dirty="0"/>
              <a:t>추가예정</a:t>
            </a:r>
            <a:r>
              <a:rPr lang="en-US" altLang="ko-KR" dirty="0"/>
              <a:t>)/</a:t>
            </a:r>
            <a:r>
              <a:rPr lang="ko-KR" altLang="en-US" dirty="0">
                <a:highlight>
                  <a:srgbClr val="FFFF00"/>
                </a:highlight>
              </a:rPr>
              <a:t>통장개설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수정 제안 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항목 추가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“</a:t>
            </a:r>
            <a:r>
              <a:rPr lang="ko-KR" altLang="en-US" dirty="0"/>
              <a:t>외환 예금</a:t>
            </a:r>
            <a:r>
              <a:rPr lang="en-US" altLang="ko-KR" dirty="0"/>
              <a:t>” </a:t>
            </a:r>
            <a:r>
              <a:rPr lang="ko-KR" altLang="en-US" dirty="0"/>
              <a:t>에서 상품관련</a:t>
            </a:r>
            <a:r>
              <a:rPr lang="en-US" altLang="ko-KR" dirty="0"/>
              <a:t>(deposit </a:t>
            </a:r>
            <a:r>
              <a:rPr lang="ko-KR" altLang="en-US" dirty="0"/>
              <a:t>페이지관련</a:t>
            </a:r>
            <a:r>
              <a:rPr lang="en-US" altLang="ko-KR" dirty="0"/>
              <a:t>) </a:t>
            </a:r>
            <a:r>
              <a:rPr lang="ko-KR" altLang="en-US" dirty="0"/>
              <a:t>약관을 등록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“</a:t>
            </a:r>
            <a:r>
              <a:rPr lang="ko-KR" altLang="en-US" dirty="0"/>
              <a:t>통장 개설</a:t>
            </a:r>
            <a:r>
              <a:rPr lang="en-US" altLang="ko-KR" dirty="0"/>
              <a:t>” </a:t>
            </a:r>
            <a:r>
              <a:rPr lang="ko-KR" altLang="en-US" dirty="0"/>
              <a:t>에서 입출금 통장개설 관련</a:t>
            </a:r>
            <a:r>
              <a:rPr lang="en-US" altLang="ko-KR" dirty="0"/>
              <a:t>(ko_account_open_1/en_account_open_1</a:t>
            </a:r>
            <a:r>
              <a:rPr lang="ko-KR" altLang="en-US" dirty="0"/>
              <a:t>관련페이지</a:t>
            </a:r>
            <a:r>
              <a:rPr lang="en-US" altLang="ko-KR" dirty="0"/>
              <a:t>)</a:t>
            </a:r>
            <a:r>
              <a:rPr lang="ko-KR" altLang="en-US" dirty="0"/>
              <a:t> 약관을 등록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 err="1"/>
              <a:t>피피티</a:t>
            </a:r>
            <a:r>
              <a:rPr lang="ko-KR" altLang="en-US" dirty="0"/>
              <a:t> 페이지 번호 </a:t>
            </a:r>
            <a:r>
              <a:rPr lang="en-US" altLang="ko-KR" dirty="0"/>
              <a:t>10</a:t>
            </a:r>
            <a:r>
              <a:rPr lang="ko-KR" altLang="en-US" dirty="0"/>
              <a:t>번 </a:t>
            </a:r>
            <a:r>
              <a:rPr lang="en-US" altLang="ko-KR" dirty="0"/>
              <a:t>-&gt; </a:t>
            </a:r>
            <a:r>
              <a:rPr lang="ko-KR" altLang="en-US" dirty="0"/>
              <a:t>해당 하는 약관 자료들은 다른 </a:t>
            </a:r>
            <a:r>
              <a:rPr lang="ko-KR" altLang="en-US" dirty="0" err="1"/>
              <a:t>피피티</a:t>
            </a:r>
            <a:r>
              <a:rPr lang="ko-KR" altLang="en-US" dirty="0"/>
              <a:t> 페이지에 존재 </a:t>
            </a:r>
            <a:r>
              <a:rPr lang="en-US" altLang="ko-KR" dirty="0"/>
              <a:t>(</a:t>
            </a:r>
            <a:r>
              <a:rPr lang="ko-KR" altLang="en-US" dirty="0"/>
              <a:t>첨부한 </a:t>
            </a:r>
            <a:r>
              <a:rPr lang="en-US" altLang="ko-KR" dirty="0"/>
              <a:t>txt </a:t>
            </a:r>
            <a:r>
              <a:rPr lang="ko-KR" altLang="en-US" dirty="0"/>
              <a:t>파일은 다른 페이지에 없거나 참고사항</a:t>
            </a:r>
            <a:r>
              <a:rPr lang="en-US" altLang="ko-KR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5881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D3CA68-3B4B-F734-F4A2-E8E28B41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7277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7DC557-2B0C-DE07-4CDD-C794FF16A04A}"/>
              </a:ext>
            </a:extLst>
          </p:cNvPr>
          <p:cNvSpPr txBox="1"/>
          <p:nvPr/>
        </p:nvSpPr>
        <p:spPr>
          <a:xfrm>
            <a:off x="5611091" y="540327"/>
            <a:ext cx="61237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회원가입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전자금융거래 기본약관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전자금융서비스 이용약관    </a:t>
            </a:r>
            <a:endParaRPr lang="en-US" altLang="ko-KR" dirty="0"/>
          </a:p>
          <a:p>
            <a:r>
              <a:rPr lang="ko-KR" altLang="en-US" dirty="0"/>
              <a:t>                  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신용</a:t>
            </a:r>
            <a:r>
              <a:rPr lang="en-US" altLang="ko-KR" dirty="0"/>
              <a:t>)</a:t>
            </a:r>
            <a:r>
              <a:rPr lang="ko-KR" altLang="en-US" dirty="0"/>
              <a:t>정보 수집</a:t>
            </a:r>
            <a:r>
              <a:rPr lang="en-US" altLang="ko-KR" dirty="0"/>
              <a:t>·</a:t>
            </a:r>
            <a:r>
              <a:rPr lang="ko-KR" altLang="en-US" dirty="0"/>
              <a:t>이용 동의서 </a:t>
            </a:r>
            <a:r>
              <a:rPr lang="en-US" altLang="ko-KR" dirty="0"/>
              <a:t>(</a:t>
            </a:r>
            <a:r>
              <a:rPr lang="ko-KR" altLang="en-US" dirty="0"/>
              <a:t>온라인고객 신규가입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FBE1D693-6762-7FBA-3564-540E9468F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159788"/>
              </p:ext>
            </p:extLst>
          </p:nvPr>
        </p:nvGraphicFramePr>
        <p:xfrm>
          <a:off x="5434598" y="2825546"/>
          <a:ext cx="3643745" cy="1111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686049" imgH="514350" progId="Package">
                  <p:embed/>
                </p:oleObj>
              </mc:Choice>
              <mc:Fallback>
                <p:oleObj name="포장기 셸 개체" showAsIcon="1" r:id="rId3" imgW="168604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4598" y="2825546"/>
                        <a:ext cx="3643745" cy="1111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AEEB725B-1611-8DC1-6D0A-A0387AFA4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139519"/>
              </p:ext>
            </p:extLst>
          </p:nvPr>
        </p:nvGraphicFramePr>
        <p:xfrm>
          <a:off x="7732673" y="4964534"/>
          <a:ext cx="5008647" cy="820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3771862" imgH="514350" progId="Package">
                  <p:embed/>
                </p:oleObj>
              </mc:Choice>
              <mc:Fallback>
                <p:oleObj name="포장기 셸 개체" showAsIcon="1" r:id="rId5" imgW="377186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32673" y="4964534"/>
                        <a:ext cx="5008647" cy="820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46AC3A80-93E6-E412-0D37-EB41BA9401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675873"/>
              </p:ext>
            </p:extLst>
          </p:nvPr>
        </p:nvGraphicFramePr>
        <p:xfrm>
          <a:off x="4964221" y="4969829"/>
          <a:ext cx="3333500" cy="937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828800" imgH="514350" progId="Package">
                  <p:embed/>
                </p:oleObj>
              </mc:Choice>
              <mc:Fallback>
                <p:oleObj name="포장기 셸 개체" showAsIcon="1" r:id="rId7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4221" y="4969829"/>
                        <a:ext cx="3333500" cy="937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2A5B7394-7DC2-A763-1B83-EF41E7582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78816"/>
              </p:ext>
            </p:extLst>
          </p:nvPr>
        </p:nvGraphicFramePr>
        <p:xfrm>
          <a:off x="8849131" y="2980029"/>
          <a:ext cx="3178521" cy="893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1828800" imgH="514350" progId="Package">
                  <p:embed/>
                </p:oleObj>
              </mc:Choice>
              <mc:Fallback>
                <p:oleObj name="포장기 셸 개체" showAsIcon="1" r:id="rId9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9131" y="2980029"/>
                        <a:ext cx="3178521" cy="893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개체 11">
            <a:extLst>
              <a:ext uri="{FF2B5EF4-FFF2-40B4-BE49-F238E27FC236}">
                <a16:creationId xmlns:a16="http://schemas.microsoft.com/office/drawing/2014/main" id="{AA276DD3-4737-D7BB-39A5-39C01ACAA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95547"/>
              </p:ext>
            </p:extLst>
          </p:nvPr>
        </p:nvGraphicFramePr>
        <p:xfrm>
          <a:off x="5611090" y="4073058"/>
          <a:ext cx="2686631" cy="75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1" imgW="1828800" imgH="514350" progId="Package">
                  <p:embed/>
                </p:oleObj>
              </mc:Choice>
              <mc:Fallback>
                <p:oleObj name="포장기 셸 개체" showAsIcon="1" r:id="rId11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11090" y="4073058"/>
                        <a:ext cx="2686631" cy="755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0FDFB811-5AE7-D2C0-A130-98FABB362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400703"/>
              </p:ext>
            </p:extLst>
          </p:nvPr>
        </p:nvGraphicFramePr>
        <p:xfrm>
          <a:off x="4964221" y="6004880"/>
          <a:ext cx="2896524" cy="755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3" imgW="1971551" imgH="514350" progId="Package">
                  <p:embed/>
                </p:oleObj>
              </mc:Choice>
              <mc:Fallback>
                <p:oleObj name="포장기 셸 개체" showAsIcon="1" r:id="rId13" imgW="197155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64221" y="6004880"/>
                        <a:ext cx="2896524" cy="755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173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2A15-23C6-EF13-7086-C1AD531A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CB248-0017-F963-3BB6-376590180998}"/>
              </a:ext>
            </a:extLst>
          </p:cNvPr>
          <p:cNvSpPr txBox="1"/>
          <p:nvPr/>
        </p:nvSpPr>
        <p:spPr>
          <a:xfrm>
            <a:off x="625642" y="561474"/>
            <a:ext cx="115663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원화송금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 원화 송금 관련 약관을 직접적으로 표시하는 </a:t>
            </a:r>
            <a:r>
              <a:rPr lang="en-US" altLang="ko-KR" dirty="0">
                <a:highlight>
                  <a:srgbClr val="FFFF00"/>
                </a:highlight>
              </a:rPr>
              <a:t>html </a:t>
            </a:r>
            <a:r>
              <a:rPr lang="ko-KR" altLang="en-US" dirty="0">
                <a:highlight>
                  <a:srgbClr val="FFFF00"/>
                </a:highlight>
              </a:rPr>
              <a:t>존재 </a:t>
            </a:r>
            <a:r>
              <a:rPr lang="en-US" altLang="ko-KR" dirty="0">
                <a:highlight>
                  <a:srgbClr val="FFFF00"/>
                </a:highlight>
              </a:rPr>
              <a:t>x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en-US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보통 </a:t>
            </a:r>
            <a:r>
              <a:rPr lang="ko-KR" altLang="en-US" dirty="0" err="1">
                <a:highlight>
                  <a:srgbClr val="FFFF00"/>
                </a:highlight>
              </a:rPr>
              <a:t>계좌개설할</a:t>
            </a:r>
            <a:r>
              <a:rPr lang="ko-KR" altLang="en-US" dirty="0">
                <a:highlight>
                  <a:srgbClr val="FFFF00"/>
                </a:highlight>
              </a:rPr>
              <a:t> 때 약관에 포함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그래서 따로 페이지가 없는 듯 싶음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약관 등록 카테고리에 있기에 찾아보니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국민은행의 </a:t>
            </a:r>
            <a:r>
              <a:rPr lang="en-US" altLang="ko-KR" dirty="0">
                <a:highlight>
                  <a:srgbClr val="FFFF00"/>
                </a:highlight>
              </a:rPr>
              <a:t>KB </a:t>
            </a:r>
            <a:r>
              <a:rPr lang="ko-KR" altLang="en-US" dirty="0" err="1">
                <a:highlight>
                  <a:srgbClr val="FFFF00"/>
                </a:highlight>
              </a:rPr>
              <a:t>스타뱅킹</a:t>
            </a:r>
            <a:r>
              <a:rPr lang="ko-KR" altLang="en-US" dirty="0">
                <a:highlight>
                  <a:srgbClr val="FFFF00"/>
                </a:highlight>
              </a:rPr>
              <a:t> 간편송금 서비스와 같이 필요하다면 약관을 명시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원화 송금과 관련된 약관은 이미 원화 </a:t>
            </a:r>
            <a:r>
              <a:rPr lang="ko-KR" altLang="en-US" dirty="0" err="1">
                <a:highlight>
                  <a:srgbClr val="FFFF00"/>
                </a:highlight>
              </a:rPr>
              <a:t>통좌</a:t>
            </a:r>
            <a:r>
              <a:rPr lang="ko-KR" altLang="en-US" dirty="0">
                <a:highlight>
                  <a:srgbClr val="FFFF00"/>
                </a:highlight>
              </a:rPr>
              <a:t> 개설에 있음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추가한다면 모바일 계좌이체와 같은 간단 송금과 같은 서비스 제공 시</a:t>
            </a:r>
            <a:endParaRPr lang="ko-KR" altLang="en-US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58C89096-0E6D-678B-F153-1155500C2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67386"/>
              </p:ext>
            </p:extLst>
          </p:nvPr>
        </p:nvGraphicFramePr>
        <p:xfrm>
          <a:off x="1167647" y="3610344"/>
          <a:ext cx="6912390" cy="130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2714711" imgH="514350" progId="Package">
                  <p:embed/>
                </p:oleObj>
              </mc:Choice>
              <mc:Fallback>
                <p:oleObj name="포장기 셸 개체" showAsIcon="1" r:id="rId2" imgW="271471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7647" y="3610344"/>
                        <a:ext cx="6912390" cy="1309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569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2395-0D4F-99C9-6CBF-023559DF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AEA9C2-614F-4C29-0280-8EABAC217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712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3F7FD4-9727-89AC-3417-BEE171889C27}"/>
              </a:ext>
            </a:extLst>
          </p:cNvPr>
          <p:cNvSpPr txBox="1"/>
          <p:nvPr/>
        </p:nvSpPr>
        <p:spPr>
          <a:xfrm>
            <a:off x="6096000" y="304800"/>
            <a:ext cx="5671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외화 송금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외화계좌이체 서비스 이용 약관                                                  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2. </a:t>
            </a:r>
            <a:r>
              <a:rPr lang="ko-KR" altLang="en-US" dirty="0">
                <a:highlight>
                  <a:srgbClr val="FFFF00"/>
                </a:highlight>
              </a:rPr>
              <a:t>개인정보 수집 및 이용 동의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수정 제안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제거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보통 </a:t>
            </a:r>
            <a:r>
              <a:rPr lang="en-US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번 이용약관에 포함 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endParaRPr lang="ko-KR" altLang="en-US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3. </a:t>
            </a:r>
            <a:r>
              <a:rPr lang="ko-KR" altLang="en-US" dirty="0">
                <a:highlight>
                  <a:srgbClr val="FFFF00"/>
                </a:highlight>
              </a:rPr>
              <a:t>외환거래 관련 유의사항  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수정 제안 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제거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보통 </a:t>
            </a:r>
            <a:r>
              <a:rPr lang="en-US" altLang="ko-KR" dirty="0">
                <a:highlight>
                  <a:srgbClr val="FFFF00"/>
                </a:highlight>
              </a:rPr>
              <a:t>1</a:t>
            </a:r>
            <a:r>
              <a:rPr lang="ko-KR" altLang="en-US" dirty="0">
                <a:highlight>
                  <a:srgbClr val="FFFF00"/>
                </a:highlight>
              </a:rPr>
              <a:t>번 이용약관에 포함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4.</a:t>
            </a:r>
            <a:r>
              <a:rPr lang="ko-KR" altLang="en-US" dirty="0">
                <a:highlight>
                  <a:srgbClr val="FFFF00"/>
                </a:highlight>
              </a:rPr>
              <a:t> 금융회사간 </a:t>
            </a:r>
            <a:r>
              <a:rPr lang="ko-KR" altLang="en-US" dirty="0" err="1">
                <a:highlight>
                  <a:srgbClr val="FFFF00"/>
                </a:highlight>
              </a:rPr>
              <a:t>외화이체서비스</a:t>
            </a:r>
            <a:r>
              <a:rPr lang="ko-KR" altLang="en-US" dirty="0">
                <a:highlight>
                  <a:srgbClr val="FFFF00"/>
                </a:highlight>
              </a:rPr>
              <a:t> 웹사이트 이용 약관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(</a:t>
            </a:r>
            <a:r>
              <a:rPr lang="ko-KR" altLang="en-US" dirty="0">
                <a:highlight>
                  <a:srgbClr val="FFFF00"/>
                </a:highlight>
              </a:rPr>
              <a:t>수정 제안 </a:t>
            </a:r>
            <a:r>
              <a:rPr lang="en-US" altLang="ko-KR" dirty="0">
                <a:highlight>
                  <a:srgbClr val="FFFF00"/>
                </a:highlight>
              </a:rPr>
              <a:t>:</a:t>
            </a:r>
            <a:r>
              <a:rPr lang="ko-KR" altLang="en-US" dirty="0">
                <a:highlight>
                  <a:srgbClr val="FFFF00"/>
                </a:highlight>
              </a:rPr>
              <a:t>추가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추가하면 좋을 것</a:t>
            </a: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2AC0622A-9A67-6D96-5F84-4F5E2D113D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379554"/>
              </p:ext>
            </p:extLst>
          </p:nvPr>
        </p:nvGraphicFramePr>
        <p:xfrm>
          <a:off x="7901939" y="4610054"/>
          <a:ext cx="3257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3257531" imgH="514350" progId="Package">
                  <p:embed/>
                </p:oleObj>
              </mc:Choice>
              <mc:Fallback>
                <p:oleObj name="포장기 셸 개체" showAsIcon="1" r:id="rId3" imgW="325753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01939" y="4610054"/>
                        <a:ext cx="32575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BB7903C9-2EC7-7CE5-F221-A6E468F14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679907"/>
              </p:ext>
            </p:extLst>
          </p:nvPr>
        </p:nvGraphicFramePr>
        <p:xfrm>
          <a:off x="6298880" y="5403216"/>
          <a:ext cx="1400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400242" imgH="514350" progId="Package">
                  <p:embed/>
                </p:oleObj>
              </mc:Choice>
              <mc:Fallback>
                <p:oleObj name="포장기 셸 개체" showAsIcon="1" r:id="rId5" imgW="140024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98880" y="5403216"/>
                        <a:ext cx="14001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F8178F5E-2304-A2D9-64C9-63BD2E3A1F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17234"/>
              </p:ext>
            </p:extLst>
          </p:nvPr>
        </p:nvGraphicFramePr>
        <p:xfrm>
          <a:off x="6096000" y="3817154"/>
          <a:ext cx="1805939" cy="663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400242" imgH="514350" progId="Package">
                  <p:embed/>
                </p:oleObj>
              </mc:Choice>
              <mc:Fallback>
                <p:oleObj name="포장기 셸 개체" showAsIcon="1" r:id="rId7" imgW="140024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3817154"/>
                        <a:ext cx="1805939" cy="6634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EBD9BB5C-D43F-2DBD-1FA4-09E2EBBE4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5469135"/>
              </p:ext>
            </p:extLst>
          </p:nvPr>
        </p:nvGraphicFramePr>
        <p:xfrm>
          <a:off x="5917881" y="4684713"/>
          <a:ext cx="2162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2162089" imgH="514350" progId="Package">
                  <p:embed/>
                </p:oleObj>
              </mc:Choice>
              <mc:Fallback>
                <p:oleObj name="포장기 셸 개체" showAsIcon="1" r:id="rId9" imgW="216208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17881" y="4684713"/>
                        <a:ext cx="21621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AFC307EB-C21E-994E-8EED-68E7B1B7C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350004"/>
              </p:ext>
            </p:extLst>
          </p:nvPr>
        </p:nvGraphicFramePr>
        <p:xfrm>
          <a:off x="8252270" y="3850614"/>
          <a:ext cx="2171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11" imgW="2171585" imgH="514350" progId="Package">
                  <p:embed/>
                </p:oleObj>
              </mc:Choice>
              <mc:Fallback>
                <p:oleObj name="포장기 셸 개체" showAsIcon="1" r:id="rId11" imgW="217158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52270" y="3850614"/>
                        <a:ext cx="2171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265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713A-E875-9B1E-5322-461B2416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26DE6E-1F9E-0FE5-D51C-611163B62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9746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56C5D3-2767-2AA0-3F35-38EF6208A75A}"/>
              </a:ext>
            </a:extLst>
          </p:cNvPr>
          <p:cNvSpPr txBox="1"/>
          <p:nvPr/>
        </p:nvSpPr>
        <p:spPr>
          <a:xfrm>
            <a:off x="5358063" y="497305"/>
            <a:ext cx="62724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통장개설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전자금융 약관 동의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전자금융이용약관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전자금융서비스 이용약관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신용</a:t>
            </a:r>
            <a:r>
              <a:rPr lang="en-US" altLang="ko-KR" dirty="0"/>
              <a:t>)</a:t>
            </a:r>
            <a:r>
              <a:rPr lang="ko-KR" altLang="en-US" dirty="0"/>
              <a:t>정보 수집</a:t>
            </a:r>
            <a:r>
              <a:rPr lang="en-US" altLang="ko-KR" dirty="0"/>
              <a:t>·</a:t>
            </a:r>
            <a:r>
              <a:rPr lang="ko-KR" altLang="en-US" dirty="0"/>
              <a:t>이용 동의서 </a:t>
            </a:r>
            <a:r>
              <a:rPr lang="en-US" altLang="ko-KR" dirty="0"/>
              <a:t>(</a:t>
            </a:r>
            <a:r>
              <a:rPr lang="ko-KR" altLang="en-US" dirty="0"/>
              <a:t>전자금융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스타 </a:t>
            </a:r>
            <a:r>
              <a:rPr lang="ko-KR" altLang="en-US" dirty="0" err="1"/>
              <a:t>뱅킹서비스</a:t>
            </a:r>
            <a:r>
              <a:rPr lang="ko-KR" altLang="en-US" dirty="0"/>
              <a:t> 이용 및 상품가입 동의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375D2A7F-867D-1623-65AA-84E3FA7C5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540447"/>
              </p:ext>
            </p:extLst>
          </p:nvPr>
        </p:nvGraphicFramePr>
        <p:xfrm>
          <a:off x="5358063" y="5148425"/>
          <a:ext cx="6031414" cy="808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3838642" imgH="514350" progId="Package">
                  <p:embed/>
                </p:oleObj>
              </mc:Choice>
              <mc:Fallback>
                <p:oleObj name="포장기 셸 개체" showAsIcon="1" r:id="rId3" imgW="3838642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58063" y="5148425"/>
                        <a:ext cx="6031414" cy="808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924D7A9C-ECCE-B346-D0ED-9C95796D7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693474"/>
              </p:ext>
            </p:extLst>
          </p:nvPr>
        </p:nvGraphicFramePr>
        <p:xfrm>
          <a:off x="6329279" y="5956605"/>
          <a:ext cx="4295327" cy="808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2733704" imgH="514350" progId="Package">
                  <p:embed/>
                </p:oleObj>
              </mc:Choice>
              <mc:Fallback>
                <p:oleObj name="포장기 셸 개체" showAsIcon="1" r:id="rId5" imgW="273370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29279" y="5956605"/>
                        <a:ext cx="4295327" cy="808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0D656DF-E811-0FE2-DE5F-0A34743E2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594747"/>
              </p:ext>
            </p:extLst>
          </p:nvPr>
        </p:nvGraphicFramePr>
        <p:xfrm>
          <a:off x="6620877" y="4215397"/>
          <a:ext cx="3098020" cy="808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971551" imgH="514350" progId="Package">
                  <p:embed/>
                </p:oleObj>
              </mc:Choice>
              <mc:Fallback>
                <p:oleObj name="포장기 셸 개체" showAsIcon="1" r:id="rId7" imgW="197155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0877" y="4215397"/>
                        <a:ext cx="3098020" cy="808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B0F8695A-861A-B0EB-8F73-9E7E6DE59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084151"/>
              </p:ext>
            </p:extLst>
          </p:nvPr>
        </p:nvGraphicFramePr>
        <p:xfrm>
          <a:off x="6329279" y="3112167"/>
          <a:ext cx="3098019" cy="1043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1352454" imgH="514350" progId="Package">
                  <p:embed/>
                </p:oleObj>
              </mc:Choice>
              <mc:Fallback>
                <p:oleObj name="포장기 셸 개체" showAsIcon="1" r:id="rId9" imgW="135245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29279" y="3112167"/>
                        <a:ext cx="3098019" cy="1043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849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9463-5D1C-57C4-6137-9ED1A535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F234D2-37CD-10AA-0412-F1D716AC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0313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735C6B-F54A-DB6B-9C47-968748973336}"/>
              </a:ext>
            </a:extLst>
          </p:cNvPr>
          <p:cNvSpPr txBox="1"/>
          <p:nvPr/>
        </p:nvSpPr>
        <p:spPr>
          <a:xfrm>
            <a:off x="6803136" y="481263"/>
            <a:ext cx="51803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통장개설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상품 약관 동의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예금거래기본약관                                              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입출금이 자유로운 예금 약관                                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입출금통장 상품설명서                                             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신용</a:t>
            </a:r>
            <a:r>
              <a:rPr lang="en-US" altLang="ko-KR" dirty="0"/>
              <a:t>)</a:t>
            </a:r>
            <a:r>
              <a:rPr lang="ko-KR" altLang="en-US" dirty="0"/>
              <a:t>정보 수집</a:t>
            </a:r>
            <a:r>
              <a:rPr lang="en-US" altLang="ko-KR" dirty="0"/>
              <a:t>·</a:t>
            </a:r>
            <a:r>
              <a:rPr lang="ko-KR" altLang="en-US" dirty="0"/>
              <a:t>이용 동의서 </a:t>
            </a:r>
            <a:r>
              <a:rPr lang="en-US" altLang="ko-KR" dirty="0"/>
              <a:t>(</a:t>
            </a:r>
            <a:r>
              <a:rPr lang="ko-KR" altLang="en-US" dirty="0"/>
              <a:t>상품서비스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690B6F6F-3B58-4858-8E9A-929C108222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7810"/>
              </p:ext>
            </p:extLst>
          </p:nvPr>
        </p:nvGraphicFramePr>
        <p:xfrm>
          <a:off x="7439275" y="3015022"/>
          <a:ext cx="2626443" cy="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352454" imgH="514350" progId="Package">
                  <p:embed/>
                </p:oleObj>
              </mc:Choice>
              <mc:Fallback>
                <p:oleObj name="포장기 셸 개체" showAsIcon="1" r:id="rId3" imgW="135245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9275" y="3015022"/>
                        <a:ext cx="2626443" cy="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DB5CD9DE-1DC8-46AD-41CE-7C1986528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979407"/>
              </p:ext>
            </p:extLst>
          </p:nvPr>
        </p:nvGraphicFramePr>
        <p:xfrm>
          <a:off x="7171520" y="4013810"/>
          <a:ext cx="3357062" cy="83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2066820" imgH="514350" progId="Package">
                  <p:embed/>
                </p:oleObj>
              </mc:Choice>
              <mc:Fallback>
                <p:oleObj name="포장기 셸 개체" showAsIcon="1" r:id="rId5" imgW="206682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71520" y="4013810"/>
                        <a:ext cx="3357062" cy="835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902D20C3-2107-D7AE-C7D4-24FD038D6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019929"/>
              </p:ext>
            </p:extLst>
          </p:nvPr>
        </p:nvGraphicFramePr>
        <p:xfrm>
          <a:off x="7327472" y="4908511"/>
          <a:ext cx="3175620" cy="96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1686049" imgH="514350" progId="Package">
                  <p:embed/>
                </p:oleObj>
              </mc:Choice>
              <mc:Fallback>
                <p:oleObj name="포장기 셸 개체" showAsIcon="1" r:id="rId7" imgW="168604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27472" y="4908511"/>
                        <a:ext cx="3175620" cy="968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2679416B-0627-3F39-A9C6-C8AE1D36E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334262"/>
              </p:ext>
            </p:extLst>
          </p:nvPr>
        </p:nvGraphicFramePr>
        <p:xfrm>
          <a:off x="6476652" y="5936647"/>
          <a:ext cx="6048901" cy="83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9" imgW="3724380" imgH="514350" progId="Package">
                  <p:embed/>
                </p:oleObj>
              </mc:Choice>
              <mc:Fallback>
                <p:oleObj name="포장기 셸 개체" showAsIcon="1" r:id="rId9" imgW="372438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76652" y="5936647"/>
                        <a:ext cx="6048901" cy="8353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561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A18F-CED8-6B1E-47CF-3A233189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0D9ECC-42DC-7059-6E0B-9C50896DE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186"/>
          <a:stretch/>
        </p:blipFill>
        <p:spPr>
          <a:xfrm>
            <a:off x="0" y="0"/>
            <a:ext cx="529389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445065-57F6-1E29-539D-D9338C8ED119}"/>
              </a:ext>
            </a:extLst>
          </p:cNvPr>
          <p:cNvSpPr txBox="1"/>
          <p:nvPr/>
        </p:nvSpPr>
        <p:spPr>
          <a:xfrm>
            <a:off x="5358063" y="497305"/>
            <a:ext cx="62724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통장개설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확인 및 안내사항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예금주 본인확인 </a:t>
            </a:r>
            <a:r>
              <a:rPr lang="en-US" altLang="ko-KR" dirty="0"/>
              <a:t>(</a:t>
            </a:r>
            <a:r>
              <a:rPr lang="ko-KR" altLang="en-US" dirty="0" err="1"/>
              <a:t>스타뱅킹</a:t>
            </a:r>
            <a:r>
              <a:rPr lang="en-US" altLang="ko-KR" dirty="0"/>
              <a:t>)                                       </a:t>
            </a:r>
          </a:p>
          <a:p>
            <a:pPr marL="342900" indent="-342900">
              <a:buAutoNum type="arabicPeriod"/>
            </a:pPr>
            <a:r>
              <a:rPr lang="ko-KR" altLang="en-US" dirty="0">
                <a:highlight>
                  <a:srgbClr val="FFFF00"/>
                </a:highlight>
              </a:rPr>
              <a:t>통장</a:t>
            </a:r>
            <a:r>
              <a:rPr lang="en-US" altLang="ko-KR" dirty="0">
                <a:highlight>
                  <a:srgbClr val="FFFF00"/>
                </a:highlight>
              </a:rPr>
              <a:t>·</a:t>
            </a:r>
            <a:r>
              <a:rPr lang="ko-KR" altLang="en-US" dirty="0">
                <a:highlight>
                  <a:srgbClr val="FFFF00"/>
                </a:highlight>
              </a:rPr>
              <a:t>현금카드 </a:t>
            </a:r>
            <a:r>
              <a:rPr lang="ko-KR" altLang="en-US" dirty="0" err="1">
                <a:highlight>
                  <a:srgbClr val="FFFF00"/>
                </a:highlight>
              </a:rPr>
              <a:t>비대면</a:t>
            </a:r>
            <a:r>
              <a:rPr lang="ko-KR" altLang="en-US" dirty="0">
                <a:highlight>
                  <a:srgbClr val="FFFF00"/>
                </a:highlight>
              </a:rPr>
              <a:t> 개설 동의                  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(</a:t>
            </a:r>
            <a:r>
              <a:rPr lang="ko-KR" altLang="en-US" dirty="0">
                <a:highlight>
                  <a:srgbClr val="FFFF00"/>
                </a:highlight>
              </a:rPr>
              <a:t>수정 제안 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부분 제거 및 필요시 개별 추가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r>
              <a:rPr lang="ko-KR" altLang="en-US" dirty="0">
                <a:highlight>
                  <a:srgbClr val="FFFF00"/>
                </a:highlight>
              </a:rPr>
              <a:t>통장은 전자금융서비스에 포함 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카드는 따로 추가</a:t>
            </a:r>
          </a:p>
          <a:p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3. </a:t>
            </a:r>
            <a:r>
              <a:rPr lang="ko-KR" altLang="en-US" dirty="0">
                <a:highlight>
                  <a:srgbClr val="FFFF00"/>
                </a:highlight>
              </a:rPr>
              <a:t>거래 목적 및 자금 원천 확인                   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(</a:t>
            </a:r>
            <a:r>
              <a:rPr lang="ko-KR" altLang="en-US" dirty="0">
                <a:highlight>
                  <a:srgbClr val="FFFF00"/>
                </a:highlight>
              </a:rPr>
              <a:t>수정 제안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제거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r>
              <a:rPr lang="ko-KR" altLang="en-US" dirty="0">
                <a:highlight>
                  <a:srgbClr val="FFFF00"/>
                </a:highlight>
              </a:rPr>
              <a:t>예금거래 기본약관에 포함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4. </a:t>
            </a:r>
            <a:r>
              <a:rPr lang="ko-KR" altLang="en-US" dirty="0">
                <a:highlight>
                  <a:srgbClr val="FFFF00"/>
                </a:highlight>
              </a:rPr>
              <a:t>자동화기기를 이용한 외화송금서비스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이용약관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수정제안 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추가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추가하면 좋을 것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외환 예금이나 환전하기에 추가하면 좋을 듯한 항목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02FFD510-1EE3-1BB7-11CA-E2A03AB6A9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101836"/>
              </p:ext>
            </p:extLst>
          </p:nvPr>
        </p:nvGraphicFramePr>
        <p:xfrm>
          <a:off x="8758328" y="4812866"/>
          <a:ext cx="2582941" cy="982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352454" imgH="514350" progId="Package">
                  <p:embed/>
                </p:oleObj>
              </mc:Choice>
              <mc:Fallback>
                <p:oleObj name="포장기 셸 개체" showAsIcon="1" r:id="rId3" imgW="135245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58328" y="4812866"/>
                        <a:ext cx="2582941" cy="982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46C3A9B3-8E07-B99C-DCBD-D97DC551F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679603"/>
              </p:ext>
            </p:extLst>
          </p:nvPr>
        </p:nvGraphicFramePr>
        <p:xfrm>
          <a:off x="5293895" y="4745153"/>
          <a:ext cx="3536202" cy="969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876281" imgH="514350" progId="Package">
                  <p:embed/>
                </p:oleObj>
              </mc:Choice>
              <mc:Fallback>
                <p:oleObj name="포장기 셸 개체" showAsIcon="1" r:id="rId5" imgW="187628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3895" y="4745153"/>
                        <a:ext cx="3536202" cy="969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C9D24E66-44C0-BE98-3280-3E280325F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122713"/>
              </p:ext>
            </p:extLst>
          </p:nvPr>
        </p:nvGraphicFramePr>
        <p:xfrm>
          <a:off x="5675396" y="5714467"/>
          <a:ext cx="5284372" cy="846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7" imgW="3210049" imgH="514350" progId="Package">
                  <p:embed/>
                </p:oleObj>
              </mc:Choice>
              <mc:Fallback>
                <p:oleObj name="포장기 셸 개체" showAsIcon="1" r:id="rId7" imgW="321004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5396" y="5714467"/>
                        <a:ext cx="5284372" cy="8467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4180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8C6ECB9-78EE-2EE6-B52E-79BF45C1F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37190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61B4A-B386-88F1-D996-430D25414811}"/>
              </a:ext>
            </a:extLst>
          </p:cNvPr>
          <p:cNvSpPr txBox="1"/>
          <p:nvPr/>
        </p:nvSpPr>
        <p:spPr>
          <a:xfrm>
            <a:off x="7587916" y="0"/>
            <a:ext cx="46040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통장개설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금융상품의 중요사항 안내</a:t>
            </a:r>
            <a:endParaRPr lang="en-US" altLang="ko-KR" dirty="0"/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1.</a:t>
            </a:r>
            <a:r>
              <a:rPr lang="ko-KR" altLang="en-US" dirty="0">
                <a:highlight>
                  <a:srgbClr val="FFFF00"/>
                </a:highlight>
              </a:rPr>
              <a:t>우선 설명사항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개별 상품 안내 페이지에 있는 내용이 포함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상품 설명서의 내용에서 중요한 내용 </a:t>
            </a:r>
            <a:r>
              <a:rPr lang="ko-KR" altLang="en-US" dirty="0" err="1">
                <a:highlight>
                  <a:srgbClr val="FFFF00"/>
                </a:highlight>
              </a:rPr>
              <a:t>몇개와</a:t>
            </a:r>
            <a:r>
              <a:rPr lang="ko-KR" altLang="en-US" dirty="0">
                <a:highlight>
                  <a:srgbClr val="FFFF00"/>
                </a:highlight>
              </a:rPr>
              <a:t> 금융소비자보호법에서 강제하는 필수 고지</a:t>
            </a:r>
            <a:br>
              <a:rPr lang="en-US" altLang="ko-KR" dirty="0">
                <a:highlight>
                  <a:srgbClr val="FFFF00"/>
                </a:highlight>
              </a:rPr>
            </a:br>
            <a:br>
              <a:rPr lang="en-US" altLang="ko-KR" dirty="0">
                <a:highlight>
                  <a:srgbClr val="FFFF00"/>
                </a:highlight>
              </a:rPr>
            </a:b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원금손실 가능성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>
                <a:highlight>
                  <a:srgbClr val="FFFF00"/>
                </a:highlight>
              </a:rPr>
              <a:t>부담비용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>
                <a:highlight>
                  <a:srgbClr val="FFFF00"/>
                </a:highlight>
              </a:rPr>
              <a:t>예금자보호 여부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 err="1">
                <a:highlight>
                  <a:srgbClr val="FFFF00"/>
                </a:highlight>
              </a:rPr>
              <a:t>철회권</a:t>
            </a:r>
            <a:r>
              <a:rPr lang="en-US" altLang="ko-KR" dirty="0">
                <a:highlight>
                  <a:srgbClr val="FFFF00"/>
                </a:highlight>
              </a:rPr>
              <a:t>·</a:t>
            </a:r>
            <a:r>
              <a:rPr lang="ko-KR" altLang="en-US" dirty="0">
                <a:highlight>
                  <a:srgbClr val="FFFF00"/>
                </a:highlight>
              </a:rPr>
              <a:t>청약철회 가능 여부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>
                <a:highlight>
                  <a:srgbClr val="FFFF00"/>
                </a:highlight>
              </a:rPr>
              <a:t>민원</a:t>
            </a:r>
            <a:r>
              <a:rPr lang="en-US" altLang="ko-KR" dirty="0">
                <a:highlight>
                  <a:srgbClr val="FFFF00"/>
                </a:highlight>
              </a:rPr>
              <a:t>/</a:t>
            </a:r>
            <a:r>
              <a:rPr lang="ko-KR" altLang="en-US" dirty="0">
                <a:highlight>
                  <a:srgbClr val="FFFF00"/>
                </a:highlight>
              </a:rPr>
              <a:t>분쟁 처리 방법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>
                <a:highlight>
                  <a:srgbClr val="FFFF00"/>
                </a:highlight>
              </a:rPr>
              <a:t>적합성</a:t>
            </a:r>
            <a:r>
              <a:rPr lang="en-US" altLang="ko-KR" dirty="0">
                <a:highlight>
                  <a:srgbClr val="FFFF00"/>
                </a:highlight>
              </a:rPr>
              <a:t>·</a:t>
            </a:r>
            <a:r>
              <a:rPr lang="ko-KR" altLang="en-US" dirty="0">
                <a:highlight>
                  <a:srgbClr val="FFFF00"/>
                </a:highlight>
              </a:rPr>
              <a:t>적정성 판정 후 경고문</a:t>
            </a:r>
            <a:r>
              <a:rPr lang="en-US" altLang="ko-KR" dirty="0">
                <a:highlight>
                  <a:srgbClr val="FFFF00"/>
                </a:highlight>
              </a:rPr>
              <a:t>,</a:t>
            </a:r>
            <a:r>
              <a:rPr lang="ko-KR" altLang="en-US" dirty="0">
                <a:highlight>
                  <a:srgbClr val="FFFF00"/>
                </a:highlight>
              </a:rPr>
              <a:t>소비자 권리 안내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br>
              <a:rPr lang="en-US" altLang="ko-KR" dirty="0">
                <a:highlight>
                  <a:srgbClr val="FFFF00"/>
                </a:highlight>
              </a:rPr>
            </a:b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를 종합하여 안내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 </a:t>
            </a:r>
            <a:r>
              <a:rPr lang="ko-KR" altLang="en-US" dirty="0">
                <a:highlight>
                  <a:srgbClr val="FFFF00"/>
                </a:highlight>
              </a:rPr>
              <a:t>우리가 종합하여 만들면 됨</a:t>
            </a:r>
          </a:p>
          <a:p>
            <a:br>
              <a:rPr lang="en-US" altLang="ko-KR" dirty="0">
                <a:highlight>
                  <a:srgbClr val="FFFF00"/>
                </a:highlight>
              </a:rPr>
            </a:br>
            <a:r>
              <a:rPr lang="en-US" altLang="ko-KR" dirty="0">
                <a:highlight>
                  <a:srgbClr val="FFFF00"/>
                </a:highlight>
              </a:rPr>
              <a:t>2.</a:t>
            </a:r>
            <a:r>
              <a:rPr lang="ko-KR" altLang="en-US" dirty="0">
                <a:highlight>
                  <a:srgbClr val="FFFF00"/>
                </a:highlight>
              </a:rPr>
              <a:t> 예금상품 및 연계</a:t>
            </a:r>
            <a:r>
              <a:rPr lang="en-US" altLang="ko-KR" dirty="0">
                <a:highlight>
                  <a:srgbClr val="FFFF00"/>
                </a:highlight>
              </a:rPr>
              <a:t>·</a:t>
            </a:r>
            <a:r>
              <a:rPr lang="ko-KR" altLang="en-US" dirty="0">
                <a:highlight>
                  <a:srgbClr val="FFFF00"/>
                </a:highlight>
              </a:rPr>
              <a:t>제휴 서비스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그러한 상품을 한다면 관련 약관 필요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보통은 상품 설명서에 포함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연계된 상품 및 서비스가 있다면 추가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-</a:t>
            </a:r>
            <a:r>
              <a:rPr lang="ko-KR" altLang="en-US" dirty="0">
                <a:highlight>
                  <a:srgbClr val="FFFF00"/>
                </a:highlight>
              </a:rPr>
              <a:t>앞서 현금카드 이용약관을 추가하듯이 하면 됨</a:t>
            </a:r>
            <a:br>
              <a:rPr lang="en-US" altLang="ko-KR" dirty="0"/>
            </a:b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27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430C6A-B337-AE89-2B3E-B1D168F111AC}"/>
              </a:ext>
            </a:extLst>
          </p:cNvPr>
          <p:cNvSpPr txBox="1"/>
          <p:nvPr/>
        </p:nvSpPr>
        <p:spPr>
          <a:xfrm>
            <a:off x="6816436" y="349194"/>
            <a:ext cx="44888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환전하기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 err="1">
                <a:highlight>
                  <a:srgbClr val="FFFF00"/>
                </a:highlight>
              </a:rPr>
              <a:t>드롭박스</a:t>
            </a:r>
            <a:r>
              <a:rPr lang="ko-KR" altLang="en-US" dirty="0">
                <a:highlight>
                  <a:srgbClr val="FFFF00"/>
                </a:highlight>
              </a:rPr>
              <a:t> 항목 추가</a:t>
            </a:r>
            <a:r>
              <a:rPr lang="en-US" altLang="ko-KR" dirty="0">
                <a:highlight>
                  <a:srgbClr val="FFFF00"/>
                </a:highlight>
              </a:rPr>
              <a:t>:</a:t>
            </a:r>
            <a:r>
              <a:rPr lang="ko-KR" altLang="en-US" dirty="0">
                <a:highlight>
                  <a:srgbClr val="FFFF00"/>
                </a:highlight>
              </a:rPr>
              <a:t>페이지는 존재하지만 </a:t>
            </a:r>
            <a:r>
              <a:rPr lang="ko-KR" altLang="en-US" dirty="0" err="1">
                <a:highlight>
                  <a:srgbClr val="FFFF00"/>
                </a:highlight>
              </a:rPr>
              <a:t>드롭박스에</a:t>
            </a:r>
            <a:r>
              <a:rPr lang="ko-KR" altLang="en-US" dirty="0">
                <a:highlight>
                  <a:srgbClr val="FFFF00"/>
                </a:highlight>
              </a:rPr>
              <a:t> 존재</a:t>
            </a:r>
            <a:r>
              <a:rPr lang="en-US" altLang="ko-KR" dirty="0">
                <a:highlight>
                  <a:srgbClr val="FFFF00"/>
                </a:highlight>
              </a:rPr>
              <a:t>x)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</a:t>
            </a:r>
            <a:r>
              <a:rPr lang="ko-KR" altLang="en-US" dirty="0"/>
              <a:t> 외환거래기본약관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예금자보호법 관련 설명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그대로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(</a:t>
            </a:r>
            <a:r>
              <a:rPr lang="ko-KR" altLang="en-US" dirty="0"/>
              <a:t>이유</a:t>
            </a:r>
            <a:r>
              <a:rPr lang="en-US" altLang="ko-KR" dirty="0"/>
              <a:t>) </a:t>
            </a:r>
            <a:r>
              <a:rPr lang="ko-KR" altLang="en-US" dirty="0"/>
              <a:t>환전 관련해서는 예금자 보호법 관련 설명을 추가해도 되지만 따로 약관으로 공시하지는 않아 우리는 그대로 사용해도 됨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>
                <a:highlight>
                  <a:srgbClr val="FFFF00"/>
                </a:highlight>
              </a:rPr>
              <a:t>3. </a:t>
            </a:r>
            <a:r>
              <a:rPr lang="ko-KR" altLang="en-US" dirty="0">
                <a:highlight>
                  <a:srgbClr val="FFFF00"/>
                </a:highlight>
              </a:rPr>
              <a:t>환전서비스 약관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    – (</a:t>
            </a:r>
            <a:r>
              <a:rPr lang="ko-KR" altLang="en-US" dirty="0">
                <a:highlight>
                  <a:srgbClr val="FFFF00"/>
                </a:highlight>
              </a:rPr>
              <a:t>수정 제안 </a:t>
            </a:r>
            <a:r>
              <a:rPr lang="en-US" altLang="ko-KR" dirty="0">
                <a:highlight>
                  <a:srgbClr val="FFFF00"/>
                </a:highlight>
              </a:rPr>
              <a:t>: </a:t>
            </a:r>
            <a:r>
              <a:rPr lang="ko-KR" altLang="en-US" dirty="0">
                <a:highlight>
                  <a:srgbClr val="FFFF00"/>
                </a:highlight>
              </a:rPr>
              <a:t>추가</a:t>
            </a:r>
            <a:r>
              <a:rPr lang="en-US" altLang="ko-KR" dirty="0">
                <a:highlight>
                  <a:srgbClr val="FFFF00"/>
                </a:highlight>
              </a:rPr>
              <a:t>) </a:t>
            </a:r>
            <a:r>
              <a:rPr lang="ko-KR" altLang="en-US" dirty="0">
                <a:highlight>
                  <a:srgbClr val="FFFF00"/>
                </a:highlight>
              </a:rPr>
              <a:t>추가하면 좋을 것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58C7A2-FE67-AD87-EDC4-4529E3620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97" t="10525" r="16868" b="19599"/>
          <a:stretch/>
        </p:blipFill>
        <p:spPr>
          <a:xfrm>
            <a:off x="0" y="0"/>
            <a:ext cx="6462349" cy="6858000"/>
          </a:xfrm>
          <a:prstGeom prst="rect">
            <a:avLst/>
          </a:prstGeom>
        </p:spPr>
      </p:pic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371DC9DD-3033-2D54-A36F-B99F39FE0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992379"/>
              </p:ext>
            </p:extLst>
          </p:nvPr>
        </p:nvGraphicFramePr>
        <p:xfrm>
          <a:off x="7435705" y="4319512"/>
          <a:ext cx="3564804" cy="135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352454" imgH="514350" progId="Package">
                  <p:embed/>
                </p:oleObj>
              </mc:Choice>
              <mc:Fallback>
                <p:oleObj name="포장기 셸 개체" showAsIcon="1" r:id="rId3" imgW="135245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5705" y="4319512"/>
                        <a:ext cx="3564804" cy="135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3405D1A5-A27C-8D89-2C99-77BA435BAB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570597"/>
              </p:ext>
            </p:extLst>
          </p:nvPr>
        </p:nvGraphicFramePr>
        <p:xfrm>
          <a:off x="7747524" y="5531249"/>
          <a:ext cx="2941167" cy="1159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304973" imgH="514350" progId="Package">
                  <p:embed/>
                </p:oleObj>
              </mc:Choice>
              <mc:Fallback>
                <p:oleObj name="포장기 셸 개체" showAsIcon="1" r:id="rId5" imgW="1304973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47524" y="5531249"/>
                        <a:ext cx="2941167" cy="1159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0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03293F6-220E-57F9-9192-B03C00D2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026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05291-B19F-3699-5EA0-AA2916DAE92D}"/>
              </a:ext>
            </a:extLst>
          </p:cNvPr>
          <p:cNvSpPr txBox="1"/>
          <p:nvPr/>
        </p:nvSpPr>
        <p:spPr>
          <a:xfrm>
            <a:off x="3866148" y="368968"/>
            <a:ext cx="56628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외화 예금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약관 및 상품 설명서</a:t>
            </a:r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예금거래기본약관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 err="1"/>
              <a:t>외화예금거래기본약관</a:t>
            </a:r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상품설명서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확인 및 안내사항</a:t>
            </a:r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 err="1"/>
              <a:t>불법탈법</a:t>
            </a:r>
            <a:r>
              <a:rPr lang="en-US" altLang="ko-KR" dirty="0"/>
              <a:t>·</a:t>
            </a:r>
            <a:r>
              <a:rPr lang="ko-KR" altLang="en-US" dirty="0"/>
              <a:t>차명거래 금지 설명 확인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예금자보호법 설명확인</a:t>
            </a:r>
          </a:p>
          <a:p>
            <a:r>
              <a:rPr lang="en-US" altLang="ko-KR" dirty="0"/>
              <a:t>3.</a:t>
            </a:r>
            <a:r>
              <a:rPr lang="ko-KR" altLang="en-US" dirty="0" err="1"/>
              <a:t>외화현찰수수료확인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금융상품의 중요사항 안내</a:t>
            </a:r>
          </a:p>
          <a:p>
            <a:endParaRPr lang="ko-KR" altLang="en-US" dirty="0"/>
          </a:p>
          <a:p>
            <a:r>
              <a:rPr lang="en-US" altLang="ko-KR" dirty="0"/>
              <a:t>1.</a:t>
            </a:r>
            <a:r>
              <a:rPr lang="ko-KR" altLang="en-US" dirty="0"/>
              <a:t>우선설명 사항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부담정보 및 금융소비자의 권리 사항</a:t>
            </a:r>
          </a:p>
          <a:p>
            <a:r>
              <a:rPr lang="en-US" altLang="ko-KR" dirty="0"/>
              <a:t>3.</a:t>
            </a:r>
            <a:r>
              <a:rPr lang="ko-KR" altLang="en-US" dirty="0" err="1"/>
              <a:t>예금성</a:t>
            </a:r>
            <a:r>
              <a:rPr lang="ko-KR" altLang="en-US" dirty="0"/>
              <a:t> 상품 및 연계</a:t>
            </a:r>
            <a:r>
              <a:rPr lang="en-US" altLang="ko-KR" dirty="0"/>
              <a:t>·</a:t>
            </a:r>
            <a:r>
              <a:rPr lang="ko-KR" altLang="en-US" dirty="0"/>
              <a:t>제휴 서비스</a:t>
            </a:r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2D50522C-8D5D-1BC0-C22B-87888351E4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419933"/>
              </p:ext>
            </p:extLst>
          </p:nvPr>
        </p:nvGraphicFramePr>
        <p:xfrm>
          <a:off x="7882311" y="4042610"/>
          <a:ext cx="4309689" cy="927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2390919" imgH="514350" progId="Package">
                  <p:embed/>
                </p:oleObj>
              </mc:Choice>
              <mc:Fallback>
                <p:oleObj name="포장기 셸 개체" showAsIcon="1" r:id="rId3" imgW="239091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2311" y="4042610"/>
                        <a:ext cx="4309689" cy="927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2DBAA8FE-D824-DA94-380E-91FB3F0D0E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582777"/>
              </p:ext>
            </p:extLst>
          </p:nvPr>
        </p:nvGraphicFramePr>
        <p:xfrm>
          <a:off x="6521075" y="5312444"/>
          <a:ext cx="6015871" cy="1216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2543165" imgH="514350" progId="Package">
                  <p:embed/>
                </p:oleObj>
              </mc:Choice>
              <mc:Fallback>
                <p:oleObj name="포장기 셸 개체" showAsIcon="1" r:id="rId5" imgW="254316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1075" y="5312444"/>
                        <a:ext cx="6015871" cy="1216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06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96C1EF-5DF7-89CE-8F75-8C090B864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4" y="0"/>
            <a:ext cx="658396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0AEA7B-26A0-CECB-48C7-24C623B0547D}"/>
              </a:ext>
            </a:extLst>
          </p:cNvPr>
          <p:cNvSpPr txBox="1"/>
          <p:nvPr/>
        </p:nvSpPr>
        <p:spPr>
          <a:xfrm>
            <a:off x="7732295" y="673768"/>
            <a:ext cx="3561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버전 관련 변경 사항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혹시 </a:t>
            </a:r>
            <a:r>
              <a:rPr lang="ko-KR" altLang="en-US" dirty="0" err="1"/>
              <a:t>필요할까봐</a:t>
            </a:r>
            <a:r>
              <a:rPr lang="ko-KR" altLang="en-US" dirty="0"/>
              <a:t> 하나은행 예시 첨부</a:t>
            </a:r>
          </a:p>
        </p:txBody>
      </p:sp>
    </p:spTree>
    <p:extLst>
      <p:ext uri="{BB962C8B-B14F-4D97-AF65-F5344CB8AC3E}">
        <p14:creationId xmlns:p14="http://schemas.microsoft.com/office/powerpoint/2010/main" val="3020098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711</Words>
  <Application>Microsoft Office PowerPoint</Application>
  <PresentationFormat>와이드스크린</PresentationFormat>
  <Paragraphs>107</Paragraphs>
  <Slides>11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포장기 셸 개체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6</cp:revision>
  <dcterms:created xsi:type="dcterms:W3CDTF">2025-11-17T05:11:43Z</dcterms:created>
  <dcterms:modified xsi:type="dcterms:W3CDTF">2025-11-17T07:31:36Z</dcterms:modified>
</cp:coreProperties>
</file>